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Proxima Nova"/>
      <p:regular r:id="rId45"/>
      <p:bold r:id="rId46"/>
      <p:italic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Merriweather Light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Merriweather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F13B82-90C1-4F35-8143-D6958A23D47B}">
  <a:tblStyle styleId="{EAF13B82-90C1-4F35-8143-D6958A23D4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ProximaNova-bold.fntdata"/><Relationship Id="rId45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roximaNova-boldItalic.fntdata"/><Relationship Id="rId47" Type="http://schemas.openxmlformats.org/officeDocument/2006/relationships/font" Target="fonts/ProximaNova-italic.fntdata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erriweather-bold.fntdata"/><Relationship Id="rId61" Type="http://schemas.openxmlformats.org/officeDocument/2006/relationships/font" Target="fonts/Merriweather-regular.fntdata"/><Relationship Id="rId20" Type="http://schemas.openxmlformats.org/officeDocument/2006/relationships/slide" Target="slides/slide14.xml"/><Relationship Id="rId64" Type="http://schemas.openxmlformats.org/officeDocument/2006/relationships/font" Target="fonts/Merriweather-boldItalic.fntdata"/><Relationship Id="rId63" Type="http://schemas.openxmlformats.org/officeDocument/2006/relationships/font" Target="fonts/Merriweather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on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MerriweatherLigh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5.xml"/><Relationship Id="rId55" Type="http://schemas.openxmlformats.org/officeDocument/2006/relationships/font" Target="fonts/MerriweatherLight-italic.fntdata"/><Relationship Id="rId10" Type="http://schemas.openxmlformats.org/officeDocument/2006/relationships/slide" Target="slides/slide4.xml"/><Relationship Id="rId54" Type="http://schemas.openxmlformats.org/officeDocument/2006/relationships/font" Target="fonts/MerriweatherLight-bold.fntdata"/><Relationship Id="rId13" Type="http://schemas.openxmlformats.org/officeDocument/2006/relationships/slide" Target="slides/slide7.xml"/><Relationship Id="rId57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56" Type="http://schemas.openxmlformats.org/officeDocument/2006/relationships/font" Target="fonts/MerriweatherLight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Mono-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d5217782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d5217782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d5217782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d5217782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d5217782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d5217782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253053c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253053c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b12b229c9_2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b12b229c9_2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d5217782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d5217782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d5217782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d5217782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12b229c9_2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12b229c9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b527dbc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b527dbc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253053c5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253053c5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253053c5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253053c5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27908123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27908123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53053c5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253053c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d52177828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d5217782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253053c5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253053c5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b5dc37d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b5dc37d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store transactions efficiently and skip over combinations that can’t possibly be frequent.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These itemsets are then used to generate </a:t>
            </a:r>
            <a:r>
              <a:rPr b="1" lang="en">
                <a:solidFill>
                  <a:schemeClr val="dk1"/>
                </a:solidFill>
              </a:rPr>
              <a:t>association rules</a:t>
            </a:r>
            <a:r>
              <a:rPr lang="en">
                <a:solidFill>
                  <a:schemeClr val="dk1"/>
                </a:solidFill>
              </a:rPr>
              <a:t>, which you measure with </a:t>
            </a:r>
            <a:r>
              <a:rPr b="1" lang="en">
                <a:solidFill>
                  <a:schemeClr val="dk1"/>
                </a:solidFill>
              </a:rPr>
              <a:t>support, confidence, and lift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45D7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Apriori generates candidate itemsets at each step, which can be computationally expensive for large datasets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b5dc37d5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b5dc37d5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= (Transactions with X and Y) / (Transactions with 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much more likely customers are to buy Y when they buy X, compared to buying Y randomly.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Formula:</a:t>
            </a:r>
            <a:br>
              <a:rPr b="1"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Lift = Confidence / (Support of Y)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253053c5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253053c5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b527dbc8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b527dbc8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b12b229c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b12b229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b45491a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b45491a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b12b229c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b12b229c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b45491a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b45491a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b45491a6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b45491a6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253053c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253053c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27908123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27908123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b527dbc8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b527dbc8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27908123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27908123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d46fbd8c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d46fbd8c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d5217782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d521778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3d521778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3d521778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6b527dbc8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6b527dbc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b12b229c9_2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b12b229c9_2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b12b229c9_2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b12b229c9_2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b527dbc8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6b527dbc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b12b229c9_2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b12b229c9_2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b12b229c9_2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b12b229c9_2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Barcoding-CaseStudy_mirabito-logo.png"/>
          <p:cNvPicPr preferRelativeResize="0"/>
          <p:nvPr/>
        </p:nvPicPr>
        <p:blipFill rotWithShape="1">
          <a:blip r:embed="rId3">
            <a:alphaModFix/>
          </a:blip>
          <a:srcRect b="25787" l="0" r="0" t="27707"/>
          <a:stretch/>
        </p:blipFill>
        <p:spPr>
          <a:xfrm>
            <a:off x="6721200" y="66175"/>
            <a:ext cx="2569125" cy="8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Logo_of_Binghamton_University,_State_University_of_New_York_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475" y="211675"/>
            <a:ext cx="1839799" cy="6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348300" y="1682075"/>
            <a:ext cx="844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Value &amp; Basket Insights For Strategic Promotion at Mirabito</a:t>
            </a:r>
            <a:endParaRPr sz="2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38600" y="3070700"/>
            <a:ext cx="826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Presented By</a:t>
            </a:r>
            <a:endParaRPr sz="12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 Andrew Brown, Michael Dua, </a:t>
            </a:r>
            <a:r>
              <a:rPr lang="en" sz="1200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Madison Gennaro, Habiba Jannat, Snehal Wadile, Gavin Wentzel</a:t>
            </a:r>
            <a:endParaRPr sz="1200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                    </a:t>
            </a:r>
            <a:r>
              <a:rPr lang="en">
                <a:solidFill>
                  <a:schemeClr val="lt1"/>
                </a:solidFill>
              </a:rPr>
              <a:t>Agenda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Processing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 Results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Basket Analysis &amp; CLV Segmentation Results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of Key Findings and Recommendations</a:t>
            </a:r>
            <a:b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95400" y="248625"/>
            <a:ext cx="8353200" cy="6039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</a:t>
            </a:r>
            <a:r>
              <a:rPr lang="en">
                <a:solidFill>
                  <a:schemeClr val="lt1"/>
                </a:solidFill>
              </a:rPr>
              <a:t>roject Objective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of the Analysis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uncover meaningful customer purchase patterns and segment behavior across loyalty groups in order to inform data-driven marketing and inventory decisions at Mirabito.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targeted promotions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based on actual shopping behavior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product bundling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shelf placement strategies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loyalty program refinement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identifying high-value customer segments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Maximizes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opportunities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smarter cross-sell and upsell tactics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416875" y="617625"/>
            <a:ext cx="374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Data Processing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17475" y="191675"/>
            <a:ext cx="8309100" cy="4608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Cleaning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774525"/>
            <a:ext cx="8566800" cy="4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and standardized transaction-level data from multiple Excel sources using </a:t>
            </a:r>
            <a: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ID</a:t>
            </a:r>
            <a:r>
              <a:rPr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the unique key.</a:t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variables extracted for analysis:</a:t>
            </a:r>
            <a:endParaRPr b="1"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ID (unique visit identifier)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PK (anonymized customer key)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IDs purchased per transaction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category and loyalty program associated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purchased and retail price</a:t>
            </a: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fields created to enable deeper analysis:</a:t>
            </a:r>
            <a:b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line item = Quantity × Retail Price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Lifetime Value (CLV)</a:t>
            </a: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calculated and tiered for segmentation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CLV Tier</a:t>
            </a: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defined as High, Medium, and Low for personalized insights.</a:t>
            </a: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frame limited to May 22–28, 2025</a:t>
            </a: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due to Excel row constraints, ensuring a clean and consistent snapshot for analysis.</a:t>
            </a:r>
            <a:b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             </a:t>
            </a:r>
            <a:r>
              <a:rPr lang="en">
                <a:solidFill>
                  <a:schemeClr val="lt1"/>
                </a:solidFill>
              </a:rPr>
              <a:t>Data Cleaning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063125"/>
            <a:ext cx="85206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and standardized transaction-level data from multiple Excel files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Transaction_ID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the primary key.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Filtered timeframe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22–28, 2025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a consistent and manageable dataset snapshot.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Replaced invalid or ambiguous values: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 Category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reassigned as 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"Fuel</a:t>
            </a: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Ensured no missing values in key analytical fields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key fields for analysis: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Transaction_ID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Customer_PK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Item_IDs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Retail_Price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Item_Category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Loyalty_Program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Transaction_Date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 Used: POS_TRANSACTION_DETAIL_FACT, POS_PAYMENT_METHOD_DIM, POS_PAYMENT_DETAILS2_FACT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 derived fields to support deeper insights: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Item_Revenue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CLV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CLV_Tier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segmentation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Data Overview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83500"/>
            <a:ext cx="8520600" cy="5466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   Raw Data Description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2430000"/>
            <a:ext cx="8520600" cy="21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 Unit:</a:t>
            </a:r>
            <a:b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row represents a single customer transaction</a:t>
            </a: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Variables:</a:t>
            </a:r>
            <a:endParaRPr b="1"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Char char="●"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Transaction_ID</a:t>
            </a: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Unique visit identifier</a:t>
            </a:r>
            <a:b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Char char="●"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Customer_PK</a:t>
            </a: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Anonymized customer key</a:t>
            </a:r>
            <a:b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Char char="●"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Item_IDs</a:t>
            </a: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Items purchased per transaction</a:t>
            </a:r>
            <a:b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Char char="●"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Item_Category &amp; Loyalty_Program</a:t>
            </a: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Product type and associated customer loyalty program</a:t>
            </a:r>
            <a:b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8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Char char="●"/>
            </a:pPr>
            <a:r>
              <a:rPr b="1"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Quantity &amp; Retail_Price</a:t>
            </a:r>
            <a:r>
              <a:rPr lang="en" sz="11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Purchase volume and item cost per transaction</a:t>
            </a:r>
            <a:endParaRPr sz="11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7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0" title="raw_data_large_font_tabl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0100"/>
            <a:ext cx="8839199" cy="1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121500"/>
            <a:ext cx="8520600" cy="5352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</a:t>
            </a:r>
            <a:r>
              <a:rPr lang="en">
                <a:solidFill>
                  <a:schemeClr val="lt1"/>
                </a:solidFill>
              </a:rPr>
              <a:t>Derived Data Description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2756625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Derived Fields: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per Line Item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Calculated as Quantity × Retail Price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Lifetime Value (CLV)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Calculated metric used to represent long-term customer value, based on purchase frequency and average spend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CLV_Tier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Categorization of customers into High, Medium, and Low value tiers for personalized analysis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11" name="Google Shape;111;p21" title="derived_data_final_small_font_optimiz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63" y="799800"/>
            <a:ext cx="8425474" cy="19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510450" y="1822500"/>
            <a:ext cx="8123100" cy="10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Loyalty Segmentation &amp; Revenue Summary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161025"/>
            <a:ext cx="8520600" cy="4740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Customer Breakdown by Loyalty Program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3669525"/>
            <a:ext cx="85206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Mirabito Loyalty is the primary program, with 77% of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 ID and Rewards &amp; Payment together account for about 24% of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Item and Weis Loyalty together make up less than  1% </a:t>
            </a:r>
            <a:endParaRPr/>
          </a:p>
        </p:txBody>
      </p:sp>
      <p:pic>
        <p:nvPicPr>
          <p:cNvPr id="123" name="Google Shape;123;p23" title="Screenshot 2025-06-23 at 1.06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3899"/>
            <a:ext cx="8839199" cy="25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44325"/>
            <a:ext cx="8520600" cy="4995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Distribution</a:t>
            </a:r>
            <a:r>
              <a:rPr lang="en">
                <a:solidFill>
                  <a:schemeClr val="lt1"/>
                </a:solidFill>
              </a:rPr>
              <a:t> of Revenue Across Loyalty Groups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3564275"/>
            <a:ext cx="8520600" cy="11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Mirabito Loyalty generates the majority of total revenue ($2.1M, 72% of sales).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 ID and Rewards &amp; Payment account for about 28% of revenue combined.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Loyalty Item and Weis Loyalty contribute minimal revenue overall</a:t>
            </a:r>
            <a:endParaRPr/>
          </a:p>
        </p:txBody>
      </p:sp>
      <p:pic>
        <p:nvPicPr>
          <p:cNvPr id="130" name="Google Shape;130;p24" title="Screenshot 2025-06-23 at 1.11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9150"/>
            <a:ext cx="8520598" cy="23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14675"/>
            <a:ext cx="8520600" cy="5400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Average Revenue per Customer by Loyalty Group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06625"/>
            <a:ext cx="4361700" cy="3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">
                <a:solidFill>
                  <a:srgbClr val="222222"/>
                </a:solidFill>
              </a:rPr>
              <a:t>Rewards and Payment customers spend the most per person ($104.46 on average).</a:t>
            </a:r>
            <a:br>
              <a:rPr lang="en">
                <a:solidFill>
                  <a:srgbClr val="222222"/>
                </a:solidFill>
              </a:rPr>
            </a:br>
            <a:endParaRPr>
              <a:solidFill>
                <a:srgbClr val="22222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">
                <a:solidFill>
                  <a:srgbClr val="222222"/>
                </a:solidFill>
              </a:rPr>
              <a:t>Mirabito Loyalty has the largest customer base but the lowest average spend ($63.82).</a:t>
            </a:r>
            <a:br>
              <a:rPr lang="en">
                <a:solidFill>
                  <a:srgbClr val="222222"/>
                </a:solidFill>
              </a:rPr>
            </a:br>
            <a:endParaRPr>
              <a:solidFill>
                <a:srgbClr val="22222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Char char="●"/>
            </a:pPr>
            <a:r>
              <a:rPr lang="en">
                <a:solidFill>
                  <a:srgbClr val="222222"/>
                </a:solidFill>
              </a:rPr>
              <a:t>Understanding these differences highlights where to focus loyalty and upsell strategies.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" name="Google Shape;137;p25"/>
          <p:cNvGraphicFramePr/>
          <p:nvPr/>
        </p:nvGraphicFramePr>
        <p:xfrm>
          <a:off x="4922375" y="110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{EAF13B82-90C1-4F35-8143-D6958A23D47B}</a:tableStyleId>
              </a:tblPr>
              <a:tblGrid>
                <a:gridCol w="1954975"/>
                <a:gridCol w="1954975"/>
              </a:tblGrid>
              <a:tr h="68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Loyalty Program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Avg Revenue per Customer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Mirabito Loyalty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$63.82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Mirabito Alt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$71.72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Rewards &amp; Payment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$104.46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4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Loyalty 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$65.32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42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Weis Loyalty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$83.74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272750"/>
            <a:ext cx="8520600" cy="5727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Top 10 Product Categories by Revenue (May 22-28)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243775" y="3497300"/>
            <a:ext cx="8520600" cy="13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Fuel generates the highest revenue by far, over $1.8M in one week.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Cigarettes, soda, and beer are the next largest revenue drivers.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Food, snacks, and grocery categories contribute moderate revenue compared to fuel.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 title="Screenshot 2025-06-23 at 1.08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75" y="1017725"/>
            <a:ext cx="8583857" cy="24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Basket Analysis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06650" y="363950"/>
            <a:ext cx="8525700" cy="5103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Introducing Basket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64650" y="1081550"/>
            <a:ext cx="8414700" cy="3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60">
                <a:solidFill>
                  <a:schemeClr val="dk1"/>
                </a:solidFill>
              </a:rPr>
              <a:t>A machine learning algorithm based on conditional probability. 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C</a:t>
            </a:r>
            <a:r>
              <a:rPr lang="en" sz="2160">
                <a:solidFill>
                  <a:schemeClr val="dk1"/>
                </a:solidFill>
              </a:rPr>
              <a:t>onditional probabilities: based on X, then Y.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Apriori + FP Growth</a:t>
            </a:r>
            <a:br>
              <a:rPr lang="en" sz="2160">
                <a:solidFill>
                  <a:schemeClr val="dk1"/>
                </a:solidFill>
              </a:rPr>
            </a:br>
            <a:endParaRPr sz="216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60">
                <a:solidFill>
                  <a:schemeClr val="dk1"/>
                </a:solidFill>
              </a:rPr>
              <a:t>Using this methodology, we could analyze co-purchasing patterns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Our approach: co-purchasing patterns by customer segment.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We segmented by </a:t>
            </a:r>
            <a:r>
              <a:rPr b="1" lang="en" sz="2160">
                <a:solidFill>
                  <a:schemeClr val="dk1"/>
                </a:solidFill>
              </a:rPr>
              <a:t>Loyalty Program</a:t>
            </a:r>
            <a:r>
              <a:rPr lang="en" sz="2160">
                <a:solidFill>
                  <a:schemeClr val="dk1"/>
                </a:solidFill>
              </a:rPr>
              <a:t> and </a:t>
            </a:r>
            <a:r>
              <a:rPr b="1" lang="en" sz="2160">
                <a:solidFill>
                  <a:schemeClr val="dk1"/>
                </a:solidFill>
              </a:rPr>
              <a:t>CLV</a:t>
            </a:r>
            <a:r>
              <a:rPr lang="en" sz="2160">
                <a:solidFill>
                  <a:schemeClr val="dk1"/>
                </a:solidFill>
              </a:rPr>
              <a:t>.</a:t>
            </a:r>
            <a:br>
              <a:rPr lang="en" sz="2160">
                <a:solidFill>
                  <a:schemeClr val="dk1"/>
                </a:solidFill>
              </a:rPr>
            </a:br>
            <a:endParaRPr sz="216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60">
                <a:solidFill>
                  <a:schemeClr val="dk1"/>
                </a:solidFill>
              </a:rPr>
              <a:t>Analysis goal: discover best-selling product-bundles.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Decision-making criteria:</a:t>
            </a:r>
            <a:endParaRPr sz="2160">
              <a:solidFill>
                <a:schemeClr val="dk1"/>
              </a:solidFill>
            </a:endParaRPr>
          </a:p>
          <a:p>
            <a:pPr indent="-314325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160">
                <a:solidFill>
                  <a:schemeClr val="dk1"/>
                </a:solidFill>
              </a:rPr>
              <a:t>Support</a:t>
            </a:r>
            <a:endParaRPr sz="2160">
              <a:solidFill>
                <a:schemeClr val="dk1"/>
              </a:solidFill>
            </a:endParaRPr>
          </a:p>
          <a:p>
            <a:pPr indent="-314325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160">
                <a:solidFill>
                  <a:schemeClr val="dk1"/>
                </a:solidFill>
              </a:rPr>
              <a:t>Confidence</a:t>
            </a:r>
            <a:endParaRPr sz="2160">
              <a:solidFill>
                <a:schemeClr val="dk1"/>
              </a:solidFill>
            </a:endParaRPr>
          </a:p>
          <a:p>
            <a:pPr indent="-314325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" sz="2160">
                <a:solidFill>
                  <a:schemeClr val="dk1"/>
                </a:solidFill>
              </a:rPr>
              <a:t>Lift</a:t>
            </a:r>
            <a:br>
              <a:rPr lang="en" sz="2160">
                <a:solidFill>
                  <a:schemeClr val="dk1"/>
                </a:solidFill>
              </a:rPr>
            </a:br>
            <a:endParaRPr sz="216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160">
                <a:solidFill>
                  <a:schemeClr val="dk1"/>
                </a:solidFill>
              </a:rPr>
              <a:t>Implications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Underlying pattern recognition could lead to segment-based promotion</a:t>
            </a:r>
            <a:endParaRPr sz="2160">
              <a:solidFill>
                <a:schemeClr val="dk1"/>
              </a:solidFill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160">
                <a:solidFill>
                  <a:schemeClr val="dk1"/>
                </a:solidFill>
              </a:rPr>
              <a:t>Potential inventory downsizing/re-allocation</a:t>
            </a:r>
            <a:endParaRPr sz="216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06650" y="363950"/>
            <a:ext cx="8525700" cy="5103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Functionality of </a:t>
            </a:r>
            <a:r>
              <a:rPr lang="en">
                <a:solidFill>
                  <a:schemeClr val="lt1"/>
                </a:solidFill>
              </a:rPr>
              <a:t>Basket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64650" y="1081550"/>
            <a:ext cx="8414700" cy="3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FP Growth creates “trees” from patterns in data to make mining results more apparent.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Apriori sets a threshold for support as decision criteria to determine significant itemsets.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Foundation set in Conditional Probability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875" y="3640025"/>
            <a:ext cx="4467225" cy="13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06650" y="363950"/>
            <a:ext cx="8525700" cy="5103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Criteria Metrics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64650" y="1081550"/>
            <a:ext cx="8414700" cy="35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500">
                <a:solidFill>
                  <a:schemeClr val="dk1"/>
                </a:solidFill>
              </a:rPr>
              <a:t>Support</a:t>
            </a:r>
            <a:r>
              <a:rPr lang="en" sz="2500">
                <a:solidFill>
                  <a:schemeClr val="dk1"/>
                </a:solidFill>
              </a:rPr>
              <a:t> = Frequency of itemsets throughout the dataset.</a:t>
            </a:r>
            <a:br>
              <a:rPr lang="en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500">
                <a:solidFill>
                  <a:schemeClr val="dk1"/>
                </a:solidFill>
              </a:rPr>
              <a:t>Confidence</a:t>
            </a:r>
            <a:r>
              <a:rPr lang="en" sz="2500">
                <a:solidFill>
                  <a:schemeClr val="dk1"/>
                </a:solidFill>
              </a:rPr>
              <a:t> = Likelihood of an item being purchased when another item is purchased.</a:t>
            </a:r>
            <a:br>
              <a:rPr lang="en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7544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500">
                <a:solidFill>
                  <a:schemeClr val="dk1"/>
                </a:solidFill>
              </a:rPr>
              <a:t>Lift </a:t>
            </a:r>
            <a:r>
              <a:rPr lang="en" sz="2500">
                <a:solidFill>
                  <a:schemeClr val="dk1"/>
                </a:solidFill>
              </a:rPr>
              <a:t>= Random </a:t>
            </a:r>
            <a:r>
              <a:rPr lang="en" sz="2500">
                <a:solidFill>
                  <a:schemeClr val="dk1"/>
                </a:solidFill>
              </a:rPr>
              <a:t>chance</a:t>
            </a:r>
            <a:r>
              <a:rPr lang="en" sz="2500">
                <a:solidFill>
                  <a:schemeClr val="dk1"/>
                </a:solidFill>
              </a:rPr>
              <a:t> of a standalone item versus how often it is purchased when another item is purchased (derived from the two previous metrics).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163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CLV- Customer Lifetime Value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Derived metric for customer value.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Originally meant for Customer PK’s but adapted for transactions.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CLV = (Average Spend per Visit × Purchase Frequency) / (Churn Rate + Discount Rate)</a:t>
            </a:r>
            <a:br>
              <a:rPr b="1" lang="en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Churn Rate=Amount of customers that stop purchasing products</a:t>
            </a:r>
            <a:b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</a:b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-"/>
            </a:pPr>
            <a:r>
              <a:rPr lang="en" sz="1400">
                <a:solidFill>
                  <a:srgbClr val="222222"/>
                </a:solidFill>
                <a:highlight>
                  <a:srgbClr val="FFFFFF"/>
                </a:highlight>
              </a:rPr>
              <a:t>Churn Rate and Discount Rate derived using industry averages. (3% for Churn Rate and 6% for the discount rate)</a:t>
            </a:r>
            <a:endParaRPr sz="14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Association Patterns by CLV Segment         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295875" y="191550"/>
            <a:ext cx="8511600" cy="5217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</a:rPr>
              <a:t>Top 10 Overall Items Association Rules (Support, Confidence, Lift)</a:t>
            </a:r>
            <a:endParaRPr sz="2220">
              <a:solidFill>
                <a:schemeClr val="lt1"/>
              </a:solidFill>
            </a:endParaRPr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650" y="3127650"/>
            <a:ext cx="9080700" cy="19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cross-buying behavior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among lottery ticket denominations (1$, 2$, 3$, 5$, 10$, 20$)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Top rule: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2$ → 3$ Lottery Tickets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43× lift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meaning it’s highly predictive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pair counts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confirm real, frequent customer behavior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Cigarettes → Promotions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 → Deposit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 80–98% confidence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Ideal for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bundling, upselling, and in-store promotions.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450" y="867900"/>
            <a:ext cx="6663100" cy="21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64425"/>
            <a:ext cx="8520600" cy="4836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Top 10 Association Rules – Fuel Basket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311700" y="3169125"/>
            <a:ext cx="8520600" cy="16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All 10 rules show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 confidence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fuel was always purchased with these items.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Bottle deposit, cigarettes, and candy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top fuel-linked products by volume.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lottery ticket types (1$–20$)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appear consistently with fuel purchases.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Despite high confidence,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lift = 1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all rules → behavior is expected, not surprising.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Fuel acts as a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anchor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many shopping baskets.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These insights support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placement of small-ticket impulse items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near fuel pay points.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50" y="691650"/>
            <a:ext cx="7997104" cy="22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152400" y="243075"/>
            <a:ext cx="8839200" cy="4179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300">
                <a:solidFill>
                  <a:schemeClr val="lt1"/>
                </a:solidFill>
              </a:rPr>
              <a:t>High CLV Tier – Premium Customer Association Patterns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152400" y="2113950"/>
            <a:ext cx="8839200" cy="25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CLV customers show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strong lift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confidence.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pairs: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CIGARETTES → Cig Promotions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(Lift: 17.4, Confidence: 87.7%)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 → Bottle Deposit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(Lift: 7.65, Confidence: 98.0%)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support values indicate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frequent, reliable patterns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Takeaway: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high-value customers with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 promos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beer-deposit bundles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soda/snack combos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loyalty apps or exclusive fuel offers to retain these customers.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1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5125"/>
            <a:ext cx="8839198" cy="12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165300" y="151400"/>
            <a:ext cx="8808000" cy="4401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Medium CLV Tier – Solid Core Behavior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2331600"/>
            <a:ext cx="8520600" cy="22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Key Points: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Consistent purchasing of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beer + deposits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 promotions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soda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Lift and confidence remain strong but slightly lower than High tier.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group is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responsive to routine product positioning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Business Takeaway: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 in-store layouts with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trusted bundles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mid-tier customers toward high-tier with reward programs.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00" y="756900"/>
            <a:ext cx="8808002" cy="134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197900" y="140525"/>
            <a:ext cx="8753700" cy="4401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Low CLV Tier – Impulse or Essentials Focus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2359525"/>
            <a:ext cx="8520600" cy="23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Key Points: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lift and confidence, but higher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(volume).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pairs: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Bottle Deposit + Soda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Cigarettes + Promotions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(still strong)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fuel-related or single-purpose shopping trips.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Business Takeaway: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behaviors to trigger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entry-level promotions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Buy 1, Get 1).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Encourage multi-item baskets to increase CLV.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50" y="754850"/>
            <a:ext cx="8753700" cy="13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311700" y="282900"/>
            <a:ext cx="8520600" cy="5727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Products associated </a:t>
            </a:r>
            <a:r>
              <a:rPr lang="en">
                <a:solidFill>
                  <a:schemeClr val="lt1"/>
                </a:solidFill>
              </a:rPr>
              <a:t>with</a:t>
            </a:r>
            <a:r>
              <a:rPr lang="en">
                <a:solidFill>
                  <a:schemeClr val="lt1"/>
                </a:solidFill>
              </a:rPr>
              <a:t> “High” CLV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" name="Google Shape;22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Using machine learning, we broke up items into sets given importance by support.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After deriving CLV, we broke up the </a:t>
            </a:r>
            <a:r>
              <a:rPr lang="en">
                <a:solidFill>
                  <a:schemeClr val="dk1"/>
                </a:solidFill>
              </a:rPr>
              <a:t>distribution</a:t>
            </a:r>
            <a:r>
              <a:rPr lang="en">
                <a:solidFill>
                  <a:schemeClr val="dk1"/>
                </a:solidFill>
              </a:rPr>
              <a:t> into Tiers: Low, Medium and High.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Based on High Values, best-selling itemsets are: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1" name="Google Shape;221;p38" title="Screenshot 2025-06-23 1344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038" y="3063051"/>
            <a:ext cx="6475925" cy="15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88542"/>
          </a:solidFill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Most likely purchases given a customer buys “Gas”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275" y="1426450"/>
            <a:ext cx="43710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9"/>
          <p:cNvSpPr txBox="1"/>
          <p:nvPr/>
        </p:nvSpPr>
        <p:spPr>
          <a:xfrm>
            <a:off x="311700" y="1426450"/>
            <a:ext cx="3956400" cy="29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Proxima Nova"/>
              <a:buChar char="-"/>
            </a:pP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Items grouped with gas tend to be mostly “road trip” items.</a:t>
            </a:r>
            <a:endParaRPr sz="1700">
              <a:solidFill>
                <a:srgbClr val="22222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Proxima Nova"/>
              <a:buChar char="-"/>
            </a:pP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Customers most often </a:t>
            </a: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redeemed</a:t>
            </a: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 bottle deposits.</a:t>
            </a:r>
            <a:endParaRPr sz="1700">
              <a:solidFill>
                <a:srgbClr val="22222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Proxima Nova"/>
              <a:buChar char="-"/>
            </a:pP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promotions can derive from this: Pizza and Soda, </a:t>
            </a: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Pizza and Snacks, etc.</a:t>
            </a:r>
            <a:endParaRPr sz="1700">
              <a:solidFill>
                <a:srgbClr val="22222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Proxima Nova"/>
              <a:buChar char="-"/>
            </a:pPr>
            <a:r>
              <a:rPr lang="en" sz="1700">
                <a:solidFill>
                  <a:srgbClr val="222222"/>
                </a:solidFill>
                <a:latin typeface="Proxima Nova"/>
                <a:ea typeface="Proxima Nova"/>
                <a:cs typeface="Proxima Nova"/>
                <a:sym typeface="Proxima Nova"/>
              </a:rPr>
              <a:t>Deals can be loyalty program specific.</a:t>
            </a:r>
            <a:endParaRPr sz="1700">
              <a:solidFill>
                <a:srgbClr val="22222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r>
              <a:rPr lang="en" sz="3155"/>
              <a:t>Top Frequent Itemsets by Customer Segments    </a:t>
            </a:r>
            <a:r>
              <a:rPr lang="en"/>
              <a:t>   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1" title="Screenshot 2025-06-27 at 1.21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8663"/>
            <a:ext cx="8839200" cy="3506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2" title="Screenshot 2025-06-27 at 1.21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49325"/>
            <a:ext cx="8839199" cy="34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3" title="Screenshot 2025-06-27 at 1.22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9513"/>
            <a:ext cx="8839201" cy="3484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4" title="Screenshot 2025-06-27 at 1.22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4800"/>
            <a:ext cx="8839196" cy="3413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/>
              <a:t>Key Findings &amp; Recommendations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6"/>
          <p:cNvSpPr txBox="1"/>
          <p:nvPr>
            <p:ph type="title"/>
          </p:nvPr>
        </p:nvSpPr>
        <p:spPr>
          <a:xfrm>
            <a:off x="261075" y="273375"/>
            <a:ext cx="8520600" cy="7341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Findings &amp; Recommendations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🛒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purchases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often involve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junk food, soda, and lottery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ideal for bundled promotions.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🚭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cigarette inventory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locations with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fewer loyalty customers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🧃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Streamline grocery offerings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due to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revenue contribution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Loyalty Program Insights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Mirabito Loyalty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the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members (77%)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the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lowest avg. spend per customer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Rewards &amp; Payment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members spend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~$104 each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per capita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➤ Boost Mirabito spend through upsells; retain high-value Rewards &amp; Payment users.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311700" y="293625"/>
            <a:ext cx="8520600" cy="7242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Findings &amp; Recommendations(Cont’d)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0" name="Google Shape;27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Bundling Opportunities</a:t>
            </a:r>
            <a:endParaRPr b="1"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pairings: </a:t>
            </a: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Lottery + Soda</a:t>
            </a: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Cigarettes + Promotions</a:t>
            </a: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+ Pizza/Soda</a:t>
            </a: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➤ Design targeted bundles and loyalty-triggered offers.</a:t>
            </a:r>
            <a:endParaRPr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Cross-Sell Opportunities</a:t>
            </a:r>
            <a:endParaRPr b="1"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Gas purchases frequently co-occur with Pizza, Soda, and Bottle Deposit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➤ Introduce “Road Trip” bundles targeting gas buyers, with personalized offers by loyalty group.</a:t>
            </a:r>
            <a:endParaRPr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Value Strategy</a:t>
            </a:r>
            <a:endParaRPr b="1"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81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3"/>
              <a:buFont typeface="Arial"/>
              <a:buChar char="●"/>
            </a:pP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CLV users show strong co-purchase rules (e.g., </a:t>
            </a:r>
            <a:r>
              <a:rPr b="1"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Cigarettes → Cig Promo</a:t>
            </a: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Lift = 17.4).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➤ Use CLV tiers to personalize promotions and maximize lifetime value.</a:t>
            </a:r>
            <a:br>
              <a:rPr lang="en" sz="12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2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Pitfalls</a:t>
            </a:r>
            <a:r>
              <a:rPr lang="en"/>
              <a:t> &amp; Future Work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311700" y="334125"/>
            <a:ext cx="8520600" cy="6837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                 </a:t>
            </a:r>
            <a:r>
              <a:rPr lang="en">
                <a:solidFill>
                  <a:schemeClr val="lt1"/>
                </a:solidFill>
              </a:rPr>
              <a:t>Pitfalls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1" name="Google Shape;28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 Data Limitations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was based on a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narrow timeframe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(one week) and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region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limiting generalizability.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quality gaps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Missing or ambiguous values (e.g., category -1) required assumptions.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integration of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or external variables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holidays, promotions).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📉 Modeling Limitations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CLV segmentation used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pre-calculated tiers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no predictive modeling applied.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analysis relied on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item counts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ignoring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 quantity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item margin.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Did not account for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time-based behavior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time of day, weekday vs. weekend patterns).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311700" y="324000"/>
            <a:ext cx="8520600" cy="693600"/>
          </a:xfrm>
          <a:prstGeom prst="rect">
            <a:avLst/>
          </a:prstGeom>
          <a:solidFill>
            <a:srgbClr val="08854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                     </a:t>
            </a:r>
            <a:r>
              <a:rPr lang="en">
                <a:solidFill>
                  <a:schemeClr val="lt1"/>
                </a:solidFill>
              </a:rPr>
              <a:t>Future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Future Enhancements: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quantity and margin data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better product-level insights.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revenue-based segmentation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CLV prediction models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cyclical trends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expanding to multi-week or seasonal data.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recommendations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item affinity and loyalty group behavior.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 analysis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discovering alternative customer segments.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